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6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58" r:id="rId12"/>
    <p:sldId id="257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600" b="1" dirty="0"/>
              <a:t>1553 MEMORY BLOCK</a:t>
            </a:r>
            <a:br>
              <a:rPr lang="en-US" sz="6600" b="1" dirty="0"/>
            </a:br>
            <a:r>
              <a:rPr lang="en-US" sz="6600" b="1" dirty="0"/>
              <a:t>BC RT</a:t>
            </a:r>
            <a:endParaRPr lang="en-US" sz="6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Motivation &amp; Objective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4625"/>
            <a:ext cx="10515600" cy="5158105"/>
          </a:xfrm>
        </p:spPr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r>
              <a:rPr lang="en-US" altLang="en-US" sz="2400" b="1"/>
              <a:t>Design of BC and RT Memory Management Subsystem for MIL-STD-1553 </a:t>
            </a:r>
            <a:endParaRPr lang="en-US" altLang="en-US" sz="2000"/>
          </a:p>
          <a:p>
            <a:pPr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MIL-STD-1553 is a deterministic command/response serial bus.</a:t>
            </a:r>
            <a:endParaRPr lang="en-US" altLang="en-US" sz="2000"/>
          </a:p>
          <a:p>
            <a:pPr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/>
              <a:t>Reliable data buffering and protocol control are critical.</a:t>
            </a:r>
            <a:endParaRPr lang="en-US" altLang="en-US" sz="2000"/>
          </a:p>
          <a:p>
            <a:pPr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2400" b="1"/>
              <a:t>Objective of this work:</a:t>
            </a:r>
            <a:endParaRPr lang="en-US" altLang="en-US" sz="2000" b="1"/>
          </a:p>
          <a:p>
            <a:pPr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en-US" sz="2000"/>
              <a:t>Design BC and RT protocol control FSMs</a:t>
            </a:r>
            <a:endParaRPr lang="en-US" altLang="en-US" sz="2000"/>
          </a:p>
          <a:p>
            <a:pPr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en-US" sz="2000"/>
              <a:t>Implement dedicated TX and RX memory buffers</a:t>
            </a:r>
            <a:endParaRPr lang="en-US" altLang="en-US" sz="2000"/>
          </a:p>
          <a:p>
            <a:pPr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en-US" sz="2000"/>
              <a:t>Filter invalid or garbage data at protocol level</a:t>
            </a:r>
            <a:endParaRPr lang="en-US" altLang="en-US" sz="2000"/>
          </a:p>
          <a:p>
            <a:pPr>
              <a:lnSpc>
                <a:spcPct val="100000"/>
              </a:lnSpc>
              <a:spcAft>
                <a:spcPts val="0"/>
              </a:spcAft>
              <a:buFont typeface="+mj-lt"/>
              <a:buAutoNum type="arabicPeriod"/>
            </a:pPr>
            <a:r>
              <a:rPr lang="en-US" altLang="en-US" sz="2000"/>
              <a:t>Provide a reusable memory management subsystem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Scope of Work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Implemented layers:</a:t>
            </a:r>
            <a:endParaRPr lang="en-US" altLang="en-US"/>
          </a:p>
          <a:p>
            <a:r>
              <a:rPr lang="en-US" altLang="en-US"/>
              <a:t>Protocol control (FSM)</a:t>
            </a:r>
            <a:endParaRPr lang="en-US" altLang="en-US"/>
          </a:p>
          <a:p>
            <a:r>
              <a:rPr lang="en-US" altLang="en-US"/>
              <a:t>Subaddress-based memory mapping</a:t>
            </a:r>
            <a:endParaRPr lang="en-US" altLang="en-US"/>
          </a:p>
          <a:p>
            <a:r>
              <a:rPr lang="en-US" altLang="en-US"/>
              <a:t>TX and RX buffering</a:t>
            </a:r>
            <a:endParaRPr lang="en-US" altLang="en-US"/>
          </a:p>
          <a:p>
            <a:r>
              <a:rPr lang="en-US" altLang="en-US"/>
              <a:t>Word count controlled transfers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165" y="252730"/>
            <a:ext cx="10515600" cy="1325563"/>
          </a:xfrm>
        </p:spPr>
        <p:txBody>
          <a:bodyPr/>
          <a:p>
            <a:r>
              <a:rPr lang="en-US" altLang="en-US" b="1"/>
              <a:t>System Architecture</a:t>
            </a:r>
            <a:endParaRPr lang="en-US" altLang="en-US" b="1"/>
          </a:p>
        </p:txBody>
      </p:sp>
      <p:pic>
        <p:nvPicPr>
          <p:cNvPr id="11" name="Content Placeholder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5660" y="1341755"/>
            <a:ext cx="8514715" cy="5516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BLOCK DIAGRAM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 flipH="1">
            <a:off x="9633585" y="3013710"/>
            <a:ext cx="228092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/>
              <a:t>Memory is used only for buffering</a:t>
            </a:r>
            <a:endParaRPr sz="1600" b="1"/>
          </a:p>
          <a:p>
            <a:endParaRPr sz="1600" b="1"/>
          </a:p>
          <a:p>
            <a:r>
              <a:rPr sz="1600" b="1"/>
              <a:t>All communication is controlled by FSM</a:t>
            </a:r>
            <a:endParaRPr sz="1600" b="1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388110"/>
            <a:ext cx="7626985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Memory Organization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 sz="3000"/>
              <a:t>Four dedicated dual-port SRAM blocks: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 b="1"/>
              <a:t>Memory	           Purpose</a:t>
            </a:r>
            <a:endParaRPr lang="en-US" altLang="en-US" sz="3000" b="1"/>
          </a:p>
          <a:p>
            <a:pPr marL="0" indent="0">
              <a:buNone/>
            </a:pPr>
            <a:r>
              <a:rPr lang="en-US" altLang="en-US" sz="3000"/>
              <a:t>BC_TX_RAM      Stores BC transmit data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BC_RX_RAM      Stores data received by BC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RT_TX_RAM      Stores RT transmit data</a:t>
            </a:r>
            <a:endParaRPr lang="en-US" altLang="en-US" sz="3000"/>
          </a:p>
          <a:p>
            <a:pPr marL="0" indent="0">
              <a:buNone/>
            </a:pPr>
            <a:r>
              <a:rPr lang="en-US" altLang="en-US" sz="3000"/>
              <a:t>RT_RX_RAM      Stores data received by RT</a:t>
            </a:r>
            <a:endParaRPr lang="en-US" altLang="en-US" sz="3000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sz="3300"/>
              <a:t>Key Features:</a:t>
            </a:r>
            <a:endParaRPr lang="en-US" altLang="en-US" sz="3300"/>
          </a:p>
          <a:p>
            <a:pPr lvl="1">
              <a:lnSpc>
                <a:spcPct val="100000"/>
              </a:lnSpc>
            </a:pPr>
            <a:r>
              <a:rPr lang="en-US" altLang="en-US" sz="3000"/>
              <a:t>Dual-port SRAM</a:t>
            </a:r>
            <a:endParaRPr lang="en-US" altLang="en-US" sz="3000"/>
          </a:p>
          <a:p>
            <a:pPr lvl="1">
              <a:lnSpc>
                <a:spcPct val="100000"/>
              </a:lnSpc>
            </a:pPr>
            <a:r>
              <a:rPr lang="en-US" altLang="en-US" sz="3000"/>
              <a:t>Port A: CPU side</a:t>
            </a:r>
            <a:endParaRPr lang="en-US" altLang="en-US" sz="3000"/>
          </a:p>
          <a:p>
            <a:pPr lvl="1">
              <a:lnSpc>
                <a:spcPct val="100000"/>
              </a:lnSpc>
            </a:pPr>
            <a:r>
              <a:rPr lang="en-US" altLang="en-US" sz="3000"/>
              <a:t>Port B: FSM side</a:t>
            </a:r>
            <a:endParaRPr lang="en-US" altLang="en-US" sz="3000"/>
          </a:p>
          <a:p>
            <a:pPr lvl="1">
              <a:lnSpc>
                <a:spcPct val="100000"/>
              </a:lnSpc>
            </a:pPr>
            <a:r>
              <a:rPr lang="en-US" altLang="en-US" sz="3000"/>
              <a:t>Separate TX and RX paths</a:t>
            </a:r>
            <a:endParaRPr lang="en-US" altLang="en-US"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Use of Dual-Port SRAM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/>
              <a:t>Allows simultaneous access by:</a:t>
            </a:r>
            <a:endParaRPr lang="en-US" altLang="en-US" sz="2400"/>
          </a:p>
          <a:p>
            <a:r>
              <a:rPr lang="en-US" altLang="en-US" sz="2400"/>
              <a:t>CPU (software side)</a:t>
            </a:r>
            <a:endParaRPr lang="en-US" altLang="en-US" sz="2400"/>
          </a:p>
          <a:p>
            <a:r>
              <a:rPr lang="en-US" altLang="en-US" sz="2400"/>
              <a:t>FSM (protocol side)</a:t>
            </a:r>
            <a:endParaRPr lang="en-US" altLang="en-US" sz="2400"/>
          </a:p>
          <a:p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Advantages:</a:t>
            </a:r>
            <a:endParaRPr lang="en-US" altLang="en-US" sz="2400"/>
          </a:p>
          <a:p>
            <a:r>
              <a:rPr lang="en-US" altLang="en-US" sz="2400"/>
              <a:t>No arbitration required</a:t>
            </a:r>
            <a:endParaRPr lang="en-US" altLang="en-US" sz="2400"/>
          </a:p>
          <a:p>
            <a:r>
              <a:rPr lang="en-US" altLang="en-US" sz="2400"/>
              <a:t>Deterministic timing</a:t>
            </a:r>
            <a:endParaRPr lang="en-US" altLang="en-US" sz="2400"/>
          </a:p>
          <a:p>
            <a:r>
              <a:rPr lang="en-US" altLang="en-US" sz="2400"/>
              <a:t>Clean separation of control and data</a:t>
            </a:r>
            <a:endParaRPr lang="en-US" altLang="en-US" sz="2400"/>
          </a:p>
          <a:p>
            <a:r>
              <a:rPr lang="en-US" altLang="en-US" sz="2400"/>
              <a:t>Simplifies system architecture</a:t>
            </a:r>
            <a:endParaRPr lang="en-US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RT_FSM Overview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/>
          </a:bodyPr>
          <a:p>
            <a:pPr marL="0" indent="0">
              <a:buNone/>
            </a:pPr>
            <a:r>
              <a:rPr lang="en-US" altLang="en-US"/>
              <a:t>RT_FSM implements Remote Terminal protocol control:</a:t>
            </a:r>
            <a:endParaRPr lang="en-US" altLang="en-US"/>
          </a:p>
          <a:p>
            <a:r>
              <a:rPr lang="en-US" altLang="en-US"/>
              <a:t>Waits for decoded command</a:t>
            </a:r>
            <a:endParaRPr lang="en-US" altLang="en-US"/>
          </a:p>
          <a:p>
            <a:r>
              <a:rPr lang="en-US" altLang="en-US"/>
              <a:t>Extracts:</a:t>
            </a:r>
            <a:endParaRPr lang="en-US" altLang="en-US"/>
          </a:p>
          <a:p>
            <a:r>
              <a:rPr lang="en-US" altLang="en-US"/>
              <a:t>Direction</a:t>
            </a:r>
            <a:endParaRPr lang="en-US" altLang="en-US"/>
          </a:p>
          <a:p>
            <a:r>
              <a:rPr lang="en-US" altLang="en-US"/>
              <a:t>Subaddress</a:t>
            </a:r>
            <a:endParaRPr lang="en-US" altLang="en-US"/>
          </a:p>
          <a:p>
            <a:r>
              <a:rPr lang="en-US" altLang="en-US"/>
              <a:t>Word count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Controls two operations:</a:t>
            </a:r>
            <a:endParaRPr lang="en-US" altLang="en-US"/>
          </a:p>
          <a:p>
            <a:r>
              <a:rPr lang="en-US" altLang="en-US"/>
              <a:t>RX_ACTIVE → Receive data into RT_RX_RAM</a:t>
            </a:r>
            <a:endParaRPr lang="en-US" altLang="en-US"/>
          </a:p>
          <a:p>
            <a:r>
              <a:rPr lang="en-US" altLang="en-US"/>
              <a:t>TX_ACTIVE → Transmit data from RT_TX_RAM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States:</a:t>
            </a:r>
            <a:endParaRPr lang="en-US" altLang="en-US"/>
          </a:p>
          <a:p>
            <a:pPr algn="l"/>
            <a:r>
              <a:rPr lang="en-US" altLang="en-US"/>
              <a:t>IDLE</a:t>
            </a:r>
            <a:endParaRPr lang="en-US" altLang="en-US"/>
          </a:p>
          <a:p>
            <a:pPr algn="l"/>
            <a:r>
              <a:rPr lang="en-US" altLang="en-US"/>
              <a:t>RX_ACTIVE</a:t>
            </a:r>
            <a:endParaRPr lang="en-US" altLang="en-US"/>
          </a:p>
          <a:p>
            <a:pPr algn="l"/>
            <a:r>
              <a:rPr lang="en-US" altLang="en-US"/>
              <a:t>TX_ACTIVE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RT_FSM Receive Path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When RX command is active:</a:t>
            </a:r>
            <a:endParaRPr lang="en-US" altLang="en-US"/>
          </a:p>
          <a:p>
            <a:r>
              <a:rPr lang="en-US" altLang="en-US"/>
              <a:t>Waits for i_rx_word_valid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On each valid word:</a:t>
            </a:r>
            <a:endParaRPr lang="en-US" altLang="en-US"/>
          </a:p>
          <a:p>
            <a:r>
              <a:rPr lang="en-US" altLang="en-US"/>
              <a:t>Writes data into RT_RX_RAM</a:t>
            </a:r>
            <a:endParaRPr lang="en-US" altLang="en-US"/>
          </a:p>
          <a:p>
            <a:r>
              <a:rPr lang="en-US" altLang="en-US"/>
              <a:t>Increments word counter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Stops when:</a:t>
            </a:r>
            <a:endParaRPr lang="en-US" altLang="en-US"/>
          </a:p>
          <a:p>
            <a:r>
              <a:rPr lang="en-US" altLang="en-US"/>
              <a:t>Word count reached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Key Feature:</a:t>
            </a:r>
            <a:endParaRPr lang="en-US" altLang="en-US"/>
          </a:p>
          <a:p>
            <a:r>
              <a:rPr lang="en-US" altLang="en-US"/>
              <a:t>Garbage data is filtered by writing only in RX_ACTIVE state.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RT_FSM Transmit Path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When TX command is active:</a:t>
            </a:r>
            <a:endParaRPr lang="en-US" altLang="en-US"/>
          </a:p>
          <a:p>
            <a:r>
              <a:rPr lang="en-US" altLang="en-US"/>
              <a:t>Reads data from RT_TX_RAM using: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address = base_addr + word_cnt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Drives transmit interface:</a:t>
            </a:r>
            <a:endParaRPr lang="en-US" altLang="en-US"/>
          </a:p>
          <a:p>
            <a:r>
              <a:rPr lang="en-US" altLang="en-US"/>
              <a:t>o_tx_data</a:t>
            </a:r>
            <a:endParaRPr lang="en-US" altLang="en-US"/>
          </a:p>
          <a:p>
            <a:r>
              <a:rPr lang="en-US" altLang="en-US"/>
              <a:t>o_tx_word_valid</a:t>
            </a:r>
            <a:endParaRPr lang="en-US" altLang="en-US"/>
          </a:p>
          <a:p>
            <a:r>
              <a:rPr lang="en-US" altLang="en-US"/>
              <a:t>Stops after required number of words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Special Case:</a:t>
            </a:r>
            <a:endParaRPr lang="en-US" altLang="en-US"/>
          </a:p>
          <a:p>
            <a:r>
              <a:rPr lang="en-US" altLang="en-US"/>
              <a:t>Word count = 0 interpreted as 32 words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RT_FSM Code Highlights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45" y="1612265"/>
            <a:ext cx="10739755" cy="4486275"/>
          </a:xfrm>
        </p:spPr>
        <p:txBody>
          <a:bodyPr>
            <a:noAutofit/>
          </a:bodyPr>
          <a:p>
            <a:r>
              <a:rPr lang="en-US" altLang="en-US" sz="1400" b="1"/>
              <a:t>Subaddress Mapping:</a:t>
            </a:r>
            <a:endParaRPr lang="en-US" altLang="en-US" sz="1400" b="1"/>
          </a:p>
          <a:p>
            <a:pPr marL="0" indent="0">
              <a:buNone/>
            </a:pPr>
            <a:r>
              <a:rPr lang="en-US" altLang="en-US" sz="1400"/>
              <a:t>base_addr &lt;= resize(i_cmd_subaddr, 10) sll 5;</a:t>
            </a:r>
            <a:endParaRPr lang="en-US" altLang="en-US" sz="1400"/>
          </a:p>
          <a:p>
            <a:r>
              <a:rPr lang="en-US" altLang="en-US" sz="1400" b="1"/>
              <a:t>Word Count Handling:</a:t>
            </a:r>
            <a:endParaRPr lang="en-US" altLang="en-US" sz="1400" b="1"/>
          </a:p>
          <a:p>
            <a:pPr marL="0" indent="0">
              <a:buNone/>
            </a:pPr>
            <a:r>
              <a:rPr lang="en-US" altLang="en-US" sz="1400"/>
              <a:t>if i_cmd_wc = 0 then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    max_words &lt;= 32;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else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    max_words &lt;= i_cmd_wc;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end if;</a:t>
            </a:r>
            <a:endParaRPr lang="en-US" altLang="en-US" sz="1400"/>
          </a:p>
          <a:p>
            <a:r>
              <a:rPr lang="en-US" altLang="en-US" sz="1400" b="1"/>
              <a:t>RX Write Control:</a:t>
            </a:r>
            <a:endParaRPr lang="en-US" altLang="en-US" sz="1400" b="1"/>
          </a:p>
          <a:p>
            <a:pPr marL="0" indent="0">
              <a:buNone/>
            </a:pPr>
            <a:r>
              <a:rPr lang="en-US" altLang="en-US" sz="1400"/>
              <a:t>if i_rx_word_valid = '1' then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    rt_rx_bus_we &lt;= '1';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/>
              <a:t>end if;</a:t>
            </a:r>
            <a:endParaRPr lang="en-US" altLang="en-US" sz="1400"/>
          </a:p>
          <a:p>
            <a:pPr marL="0" indent="0">
              <a:buNone/>
            </a:pPr>
            <a:r>
              <a:rPr lang="en-US" altLang="en-US" sz="1400" b="1"/>
              <a:t>Explain:</a:t>
            </a:r>
            <a:endParaRPr lang="en-US" altLang="en-US" sz="1400" b="1"/>
          </a:p>
          <a:p>
            <a:r>
              <a:rPr lang="en-US" altLang="en-US" sz="1400"/>
              <a:t>Correct per 1553 standard</a:t>
            </a:r>
            <a:endParaRPr lang="en-US" altLang="en-US" sz="1400"/>
          </a:p>
          <a:p>
            <a:r>
              <a:rPr lang="en-US" altLang="en-US" sz="1400"/>
              <a:t>Protocol-level filtering implemented</a:t>
            </a:r>
            <a:endParaRPr lang="en-US" alt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Memory Subsystem Overview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The Memory Subsystem:</a:t>
            </a:r>
            <a:endParaRPr lang="en-US" altLang="en-US"/>
          </a:p>
          <a:p>
            <a:r>
              <a:rPr lang="en-US" altLang="en-US"/>
              <a:t>Instantiates 4 dual-port SRAM blocks</a:t>
            </a:r>
            <a:endParaRPr lang="en-US" altLang="en-US"/>
          </a:p>
          <a:p>
            <a:r>
              <a:rPr lang="en-US" altLang="en-US"/>
              <a:t>Connects:</a:t>
            </a:r>
            <a:endParaRPr lang="en-US" altLang="en-US"/>
          </a:p>
          <a:p>
            <a:pPr lvl="1"/>
            <a:r>
              <a:rPr lang="en-US" altLang="en-US"/>
              <a:t>CPU to Port A</a:t>
            </a:r>
            <a:endParaRPr lang="en-US" altLang="en-US"/>
          </a:p>
          <a:p>
            <a:pPr lvl="1"/>
            <a:r>
              <a:rPr lang="en-US" altLang="en-US"/>
              <a:t>FSM to Port B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Functions:</a:t>
            </a:r>
            <a:endParaRPr lang="en-US" altLang="en-US"/>
          </a:p>
          <a:p>
            <a:r>
              <a:rPr lang="en-US" altLang="en-US"/>
              <a:t>Provides dedicated TX and RX buffers</a:t>
            </a:r>
            <a:endParaRPr lang="en-US" altLang="en-US"/>
          </a:p>
          <a:p>
            <a:r>
              <a:rPr lang="en-US" altLang="en-US"/>
              <a:t>Allows concurrent CPU and FSM access</a:t>
            </a:r>
            <a:endParaRPr lang="en-US" altLang="en-US"/>
          </a:p>
          <a:p>
            <a:r>
              <a:rPr lang="en-US" altLang="en-US"/>
              <a:t>No arbitration logic required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Memory Access Pattern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Key Point:</a:t>
            </a:r>
            <a:endParaRPr lang="en-US" altLang="en-US"/>
          </a:p>
          <a:p>
            <a:r>
              <a:rPr lang="en-US" altLang="en-US"/>
              <a:t>TX memories are read-only by FSM</a:t>
            </a:r>
            <a:endParaRPr lang="en-US" altLang="en-US"/>
          </a:p>
          <a:p>
            <a:r>
              <a:rPr lang="en-US" altLang="en-US"/>
              <a:t>RX memories are write-only by FSM</a:t>
            </a:r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38200" y="1825625"/>
          <a:ext cx="9523095" cy="2479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365"/>
                <a:gridCol w="3174365"/>
                <a:gridCol w="3174365"/>
              </a:tblGrid>
              <a:tr h="495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Memory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Port 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Port B</a:t>
                      </a:r>
                      <a:endParaRPr lang="en-US"/>
                    </a:p>
                  </a:txBody>
                  <a:tcPr/>
                </a:tc>
              </a:tr>
              <a:tr h="495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RT_TX_RAM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CPU write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RT_FSM read</a:t>
                      </a:r>
                      <a:endParaRPr lang="en-US"/>
                    </a:p>
                  </a:txBody>
                  <a:tcPr/>
                </a:tc>
              </a:tr>
              <a:tr h="495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RT_RX_RAM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CPU read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RT_FSM write</a:t>
                      </a:r>
                      <a:endParaRPr lang="en-US"/>
                    </a:p>
                  </a:txBody>
                  <a:tcPr/>
                </a:tc>
              </a:tr>
              <a:tr h="495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BC_TX_RAM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CPU write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BC_FSM read</a:t>
                      </a:r>
                      <a:endParaRPr lang="en-US"/>
                    </a:p>
                  </a:txBody>
                  <a:tcPr/>
                </a:tc>
              </a:tr>
              <a:tr h="4959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BC_RX_RAM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CPU read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BC_FSM write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Direct FSM-to-Memory Design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Each memory has only two masters:</a:t>
            </a:r>
            <a:endParaRPr lang="en-US" altLang="en-US"/>
          </a:p>
          <a:p>
            <a:r>
              <a:rPr lang="en-US" altLang="en-US"/>
              <a:t>CPU</a:t>
            </a:r>
            <a:endParaRPr lang="en-US" altLang="en-US"/>
          </a:p>
          <a:p>
            <a:r>
              <a:rPr lang="en-US" altLang="en-US"/>
              <a:t>One FSM</a:t>
            </a:r>
            <a:endParaRPr lang="en-US" altLang="en-US"/>
          </a:p>
          <a:p>
            <a:r>
              <a:rPr lang="en-US" altLang="en-US"/>
              <a:t>Dual-port SRAM already supports this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Therefore:</a:t>
            </a:r>
            <a:endParaRPr lang="en-US" altLang="en-US"/>
          </a:p>
          <a:p>
            <a:r>
              <a:rPr lang="en-US" altLang="en-US"/>
              <a:t>No arbitration required</a:t>
            </a:r>
            <a:endParaRPr lang="en-US" altLang="en-US"/>
          </a:p>
          <a:p>
            <a:r>
              <a:rPr lang="en-US" altLang="en-US"/>
              <a:t>No extra latency</a:t>
            </a:r>
            <a:endParaRPr lang="en-US" altLang="en-US"/>
          </a:p>
          <a:p>
            <a:r>
              <a:rPr lang="en-US" altLang="en-US"/>
              <a:t>Simple and robust design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In the proposed design, transmit memories are accessed by the FSM in read-only mode, while receive memories are accessed by the FSM in write-only mode. This enforces a clear separation between data sources and data sinks and prevents unintended memory corruption during protocol execution.</a:t>
            </a:r>
            <a:endParaRPr lang="en-US" alt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Garbage Data Filtering Mechanism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Filtering is done by FSM:</a:t>
            </a:r>
            <a:endParaRPr lang="en-US" altLang="en-US"/>
          </a:p>
          <a:p>
            <a:r>
              <a:rPr lang="en-US" altLang="en-US"/>
              <a:t>Write enable asserted only in valid states</a:t>
            </a:r>
            <a:endParaRPr lang="en-US" altLang="en-US"/>
          </a:p>
          <a:p>
            <a:r>
              <a:rPr lang="en-US" altLang="en-US"/>
              <a:t>Ignore RX data when:</a:t>
            </a:r>
            <a:endParaRPr lang="en-US" altLang="en-US"/>
          </a:p>
          <a:p>
            <a:r>
              <a:rPr lang="en-US" altLang="en-US"/>
              <a:t>No active command</a:t>
            </a:r>
            <a:endParaRPr lang="en-US" altLang="en-US"/>
          </a:p>
          <a:p>
            <a:r>
              <a:rPr lang="en-US" altLang="en-US"/>
              <a:t>Word count exceeded</a:t>
            </a:r>
            <a:endParaRPr lang="en-US" altLang="en-US"/>
          </a:p>
          <a:p>
            <a:r>
              <a:rPr lang="en-US" altLang="en-US"/>
              <a:t>Wrong direction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Result:</a:t>
            </a:r>
            <a:endParaRPr lang="en-US" altLang="en-US"/>
          </a:p>
          <a:p>
            <a:r>
              <a:rPr lang="en-US" altLang="en-US"/>
              <a:t>Memory contains only protocol-valid data</a:t>
            </a:r>
            <a:endParaRPr lang="en-US" altLang="en-US"/>
          </a:p>
          <a:p>
            <a:r>
              <a:rPr lang="en-US" altLang="en-US"/>
              <a:t>Improves system reliability</a:t>
            </a: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/>
              <a:t>Clocking and Synchronization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 b="1"/>
              <a:t>Single system clock from PolarFire CCC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Drives:</a:t>
            </a:r>
            <a:endParaRPr lang="en-US" altLang="en-US"/>
          </a:p>
          <a:p>
            <a:r>
              <a:rPr lang="en-US" altLang="en-US"/>
              <a:t>BC_FSM</a:t>
            </a:r>
            <a:endParaRPr lang="en-US" altLang="en-US"/>
          </a:p>
          <a:p>
            <a:r>
              <a:rPr lang="en-US" altLang="en-US"/>
              <a:t>RT_FSM</a:t>
            </a:r>
            <a:endParaRPr lang="en-US" altLang="en-US"/>
          </a:p>
          <a:p>
            <a:r>
              <a:rPr lang="en-US" altLang="en-US"/>
              <a:t>All four SRAM blocks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Advantage:</a:t>
            </a:r>
            <a:endParaRPr lang="en-US" altLang="en-US"/>
          </a:p>
          <a:p>
            <a:r>
              <a:rPr lang="en-US" altLang="en-US"/>
              <a:t>Fully synchronous design</a:t>
            </a:r>
            <a:endParaRPr lang="en-US" altLang="en-US"/>
          </a:p>
          <a:p>
            <a:r>
              <a:rPr lang="en-US" altLang="en-US"/>
              <a:t>Deterministic timing</a:t>
            </a:r>
            <a:endParaRPr lang="en-US" altLang="en-US"/>
          </a:p>
          <a:p>
            <a:r>
              <a:rPr lang="en-US" altLang="en-US"/>
              <a:t>Simplified timing closure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49*195"/>
  <p:tag name="TABLE_ENDDRAG_RECT" val="66*143*749*19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3626</Words>
  <Application>WPS Presentation</Application>
  <PresentationFormat>Widescreen</PresentationFormat>
  <Paragraphs>206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Segoe UI Historic</vt:lpstr>
      <vt:lpstr>Segoe UI Black</vt:lpstr>
      <vt:lpstr>Segoe UI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USER 1</cp:lastModifiedBy>
  <cp:revision>4</cp:revision>
  <dcterms:created xsi:type="dcterms:W3CDTF">2025-07-23T00:59:00Z</dcterms:created>
  <dcterms:modified xsi:type="dcterms:W3CDTF">2026-01-27T09:19:37Z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D949C65E9DC542D8B76938DCACD899B3_13</vt:lpwstr>
  </property>
  <property fmtid="{D5CDD505-2E9C-101B-9397-08002B2CF9AE}" pid="3" name="KSOProductBuildVer">
    <vt:lpwstr>1033-12.2.0.23196</vt:lpwstr>
  </property>
</Properties>
</file>